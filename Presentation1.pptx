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785"/>
    <p:restoredTop sz="94627"/>
  </p:normalViewPr>
  <p:slideViewPr>
    <p:cSldViewPr snapToGrid="0">
      <p:cViewPr varScale="1">
        <p:scale>
          <a:sx n="194" d="100"/>
          <a:sy n="194" d="100"/>
        </p:scale>
        <p:origin x="1808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574313" y="6515932"/>
            <a:ext cx="2743200" cy="365125"/>
          </a:xfrm>
          <a:prstGeom prst="rect">
            <a:avLst/>
          </a:prstGeom>
        </p:spPr>
        <p:txBody>
          <a:bodyPr/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>
                <a:latin typeface="+mn-lt"/>
              </a:defRPr>
            </a:lvl1pPr>
          </a:lstStyle>
          <a:p>
            <a:pPr>
              <a:defRPr/>
            </a:pPr>
            <a:fld id="{B420D855-A92F-4663-AE82-AABD62D7EE0B}" type="datetimeFigureOut">
              <a:rPr lang="en-US"/>
              <a:pPr>
                <a:defRPr/>
              </a:pPr>
              <a:t>7/22/26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08432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356351"/>
            <a:ext cx="2743200" cy="365125"/>
          </a:xfrm>
          <a:prstGeom prst="rect">
            <a:avLst/>
          </a:prstGeom>
        </p:spPr>
        <p:txBody>
          <a:bodyPr/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>
                <a:latin typeface="+mn-lt"/>
              </a:defRPr>
            </a:lvl1pPr>
          </a:lstStyle>
          <a:p>
            <a:pPr>
              <a:defRPr/>
            </a:pPr>
            <a:fld id="{83316D38-8C76-41AE-BBEB-6C75B4AF02C2}" type="datetimeFigureOut">
              <a:rPr lang="en-US"/>
              <a:pPr>
                <a:defRPr/>
              </a:pPr>
              <a:t>7/22/26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</p:spPr>
        <p:txBody>
          <a:bodyPr/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>
                <a:latin typeface="+mn-lt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1"/>
            <a:ext cx="2743200" cy="365125"/>
          </a:xfrm>
          <a:prstGeom prst="rect">
            <a:avLst/>
          </a:prstGeom>
        </p:spPr>
        <p:txBody>
          <a:bodyPr/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>
                <a:latin typeface="+mn-lt"/>
              </a:defRPr>
            </a:lvl1pPr>
          </a:lstStyle>
          <a:p>
            <a:pPr>
              <a:defRPr/>
            </a:pPr>
            <a:fld id="{7B6CB29A-1548-4DD5-B140-6B2F1B2C1C70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89288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1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1" y="4589464"/>
            <a:ext cx="105156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356351"/>
            <a:ext cx="2743200" cy="365125"/>
          </a:xfrm>
          <a:prstGeom prst="rect">
            <a:avLst/>
          </a:prstGeom>
        </p:spPr>
        <p:txBody>
          <a:bodyPr/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>
                <a:latin typeface="+mn-lt"/>
              </a:defRPr>
            </a:lvl1pPr>
          </a:lstStyle>
          <a:p>
            <a:pPr>
              <a:defRPr/>
            </a:pPr>
            <a:fld id="{C6D0AEFE-F718-42CE-92AC-A355D2B1F083}" type="datetimeFigureOut">
              <a:rPr lang="en-US"/>
              <a:pPr>
                <a:defRPr/>
              </a:pPr>
              <a:t>7/22/26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</p:spPr>
        <p:txBody>
          <a:bodyPr/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>
                <a:latin typeface="+mn-lt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1"/>
            <a:ext cx="2743200" cy="365125"/>
          </a:xfrm>
          <a:prstGeom prst="rect">
            <a:avLst/>
          </a:prstGeom>
        </p:spPr>
        <p:txBody>
          <a:bodyPr/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>
                <a:latin typeface="+mn-lt"/>
              </a:defRPr>
            </a:lvl1pPr>
          </a:lstStyle>
          <a:p>
            <a:pPr>
              <a:defRPr/>
            </a:pPr>
            <a:fld id="{6E0432DD-3022-4B79-ADC3-576652E0D925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615553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562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825625"/>
            <a:ext cx="51562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38200" y="6356351"/>
            <a:ext cx="2743200" cy="365125"/>
          </a:xfrm>
          <a:prstGeom prst="rect">
            <a:avLst/>
          </a:prstGeom>
        </p:spPr>
        <p:txBody>
          <a:bodyPr/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>
                <a:latin typeface="+mn-lt"/>
              </a:defRPr>
            </a:lvl1pPr>
          </a:lstStyle>
          <a:p>
            <a:pPr>
              <a:defRPr/>
            </a:pPr>
            <a:fld id="{1EF5E2CC-DA79-4853-8258-AF060453E055}" type="datetimeFigureOut">
              <a:rPr lang="en-US"/>
              <a:pPr>
                <a:defRPr/>
              </a:pPr>
              <a:t>7/22/26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</p:spPr>
        <p:txBody>
          <a:bodyPr/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>
                <a:latin typeface="+mn-lt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8610600" y="6356351"/>
            <a:ext cx="2743200" cy="365125"/>
          </a:xfrm>
          <a:prstGeom prst="rect">
            <a:avLst/>
          </a:prstGeom>
        </p:spPr>
        <p:txBody>
          <a:bodyPr/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>
                <a:latin typeface="+mn-lt"/>
              </a:defRPr>
            </a:lvl1pPr>
          </a:lstStyle>
          <a:p>
            <a:pPr>
              <a:defRPr/>
            </a:pPr>
            <a:fld id="{BF26677F-0461-4469-B2E9-76729843E5B1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21722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0317" y="365126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40318" y="1681163"/>
            <a:ext cx="5158316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40318" y="2505075"/>
            <a:ext cx="5158316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717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717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38200" y="6356351"/>
            <a:ext cx="2743200" cy="365125"/>
          </a:xfrm>
          <a:prstGeom prst="rect">
            <a:avLst/>
          </a:prstGeom>
        </p:spPr>
        <p:txBody>
          <a:bodyPr/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>
                <a:latin typeface="+mn-lt"/>
              </a:defRPr>
            </a:lvl1pPr>
          </a:lstStyle>
          <a:p>
            <a:pPr>
              <a:defRPr/>
            </a:pPr>
            <a:fld id="{9328697D-D40A-4151-BFB8-91A0C9AACDF7}" type="datetimeFigureOut">
              <a:rPr lang="en-US"/>
              <a:pPr>
                <a:defRPr/>
              </a:pPr>
              <a:t>7/22/26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</p:spPr>
        <p:txBody>
          <a:bodyPr/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>
                <a:latin typeface="+mn-lt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8610600" y="6356351"/>
            <a:ext cx="2743200" cy="365125"/>
          </a:xfrm>
          <a:prstGeom prst="rect">
            <a:avLst/>
          </a:prstGeom>
        </p:spPr>
        <p:txBody>
          <a:bodyPr/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>
                <a:latin typeface="+mn-lt"/>
              </a:defRPr>
            </a:lvl1pPr>
          </a:lstStyle>
          <a:p>
            <a:pPr>
              <a:defRPr/>
            </a:pPr>
            <a:fld id="{7208E2E0-59F3-469B-AE70-CEC9BDD25C8E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62470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38200" y="6356351"/>
            <a:ext cx="2743200" cy="365125"/>
          </a:xfrm>
          <a:prstGeom prst="rect">
            <a:avLst/>
          </a:prstGeom>
        </p:spPr>
        <p:txBody>
          <a:bodyPr/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>
                <a:latin typeface="+mn-lt"/>
              </a:defRPr>
            </a:lvl1pPr>
          </a:lstStyle>
          <a:p>
            <a:pPr>
              <a:defRPr/>
            </a:pPr>
            <a:fld id="{5AF5A10B-18AC-4241-8C4F-728F480E8639}" type="datetimeFigureOut">
              <a:rPr lang="en-US"/>
              <a:pPr>
                <a:defRPr/>
              </a:pPr>
              <a:t>7/22/26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</p:spPr>
        <p:txBody>
          <a:bodyPr/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>
                <a:latin typeface="+mn-lt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8610600" y="6356351"/>
            <a:ext cx="2743200" cy="365125"/>
          </a:xfrm>
          <a:prstGeom prst="rect">
            <a:avLst/>
          </a:prstGeom>
        </p:spPr>
        <p:txBody>
          <a:bodyPr/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>
                <a:latin typeface="+mn-lt"/>
              </a:defRPr>
            </a:lvl1pPr>
          </a:lstStyle>
          <a:p>
            <a:pPr>
              <a:defRPr/>
            </a:pPr>
            <a:fld id="{E667326E-5F03-4324-85E2-67F51579D598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407819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38200" y="6356351"/>
            <a:ext cx="2743200" cy="365125"/>
          </a:xfrm>
          <a:prstGeom prst="rect">
            <a:avLst/>
          </a:prstGeom>
        </p:spPr>
        <p:txBody>
          <a:bodyPr/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>
                <a:latin typeface="+mn-lt"/>
              </a:defRPr>
            </a:lvl1pPr>
          </a:lstStyle>
          <a:p>
            <a:pPr>
              <a:defRPr/>
            </a:pPr>
            <a:fld id="{5E2EB4C6-6375-417E-93D6-8C4223D7EAFD}" type="datetimeFigureOut">
              <a:rPr lang="en-US"/>
              <a:pPr>
                <a:defRPr/>
              </a:pPr>
              <a:t>7/22/26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</p:spPr>
        <p:txBody>
          <a:bodyPr/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>
                <a:latin typeface="+mn-lt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8610600" y="6356351"/>
            <a:ext cx="2743200" cy="365125"/>
          </a:xfrm>
          <a:prstGeom prst="rect">
            <a:avLst/>
          </a:prstGeom>
        </p:spPr>
        <p:txBody>
          <a:bodyPr/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>
                <a:latin typeface="+mn-lt"/>
              </a:defRPr>
            </a:lvl1pPr>
          </a:lstStyle>
          <a:p>
            <a:pPr>
              <a:defRPr/>
            </a:pPr>
            <a:fld id="{B3CC591E-2C5A-439A-B2C9-6F751105AB51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29741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0318" y="457200"/>
            <a:ext cx="393276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717" y="987426"/>
            <a:ext cx="6172200" cy="4873625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40318" y="2057400"/>
            <a:ext cx="393276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38200" y="6356351"/>
            <a:ext cx="2743200" cy="365125"/>
          </a:xfrm>
          <a:prstGeom prst="rect">
            <a:avLst/>
          </a:prstGeom>
        </p:spPr>
        <p:txBody>
          <a:bodyPr/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>
                <a:latin typeface="+mn-lt"/>
              </a:defRPr>
            </a:lvl1pPr>
          </a:lstStyle>
          <a:p>
            <a:pPr>
              <a:defRPr/>
            </a:pPr>
            <a:fld id="{1E5348A5-BD9C-442E-9ECC-DB0303A85F47}" type="datetimeFigureOut">
              <a:rPr lang="en-US"/>
              <a:pPr>
                <a:defRPr/>
              </a:pPr>
              <a:t>7/22/26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</p:spPr>
        <p:txBody>
          <a:bodyPr/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>
                <a:latin typeface="+mn-lt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8610600" y="6356351"/>
            <a:ext cx="2743200" cy="365125"/>
          </a:xfrm>
          <a:prstGeom prst="rect">
            <a:avLst/>
          </a:prstGeom>
        </p:spPr>
        <p:txBody>
          <a:bodyPr/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>
                <a:latin typeface="+mn-lt"/>
              </a:defRPr>
            </a:lvl1pPr>
          </a:lstStyle>
          <a:p>
            <a:pPr>
              <a:defRPr/>
            </a:pPr>
            <a:fld id="{BBE31A86-A818-4477-A4C3-18911CC9D37E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585391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0318" y="457200"/>
            <a:ext cx="393276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717" y="987426"/>
            <a:ext cx="6172200" cy="487362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40318" y="2057400"/>
            <a:ext cx="393276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38200" y="6356351"/>
            <a:ext cx="2743200" cy="365125"/>
          </a:xfrm>
          <a:prstGeom prst="rect">
            <a:avLst/>
          </a:prstGeom>
        </p:spPr>
        <p:txBody>
          <a:bodyPr/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>
                <a:latin typeface="+mn-lt"/>
              </a:defRPr>
            </a:lvl1pPr>
          </a:lstStyle>
          <a:p>
            <a:pPr>
              <a:defRPr/>
            </a:pPr>
            <a:fld id="{1A1A212E-A63D-4047-BB50-95DD55E88100}" type="datetimeFigureOut">
              <a:rPr lang="en-US"/>
              <a:pPr>
                <a:defRPr/>
              </a:pPr>
              <a:t>7/22/26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</p:spPr>
        <p:txBody>
          <a:bodyPr/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>
                <a:latin typeface="+mn-lt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8610600" y="6356351"/>
            <a:ext cx="2743200" cy="365125"/>
          </a:xfrm>
          <a:prstGeom prst="rect">
            <a:avLst/>
          </a:prstGeom>
        </p:spPr>
        <p:txBody>
          <a:bodyPr/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>
                <a:latin typeface="+mn-lt"/>
              </a:defRPr>
            </a:lvl1pPr>
          </a:lstStyle>
          <a:p>
            <a:pPr>
              <a:defRPr/>
            </a:pPr>
            <a:fld id="{4D129F03-6940-41DE-B049-F6F50569C708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83443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356351"/>
            <a:ext cx="2743200" cy="365125"/>
          </a:xfrm>
          <a:prstGeom prst="rect">
            <a:avLst/>
          </a:prstGeom>
        </p:spPr>
        <p:txBody>
          <a:bodyPr/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>
                <a:latin typeface="+mn-lt"/>
              </a:defRPr>
            </a:lvl1pPr>
          </a:lstStyle>
          <a:p>
            <a:pPr>
              <a:defRPr/>
            </a:pPr>
            <a:fld id="{EBB0B5FD-49DB-473C-854B-F8F23DC4B4E3}" type="datetimeFigureOut">
              <a:rPr lang="en-US"/>
              <a:pPr>
                <a:defRPr/>
              </a:pPr>
              <a:t>7/22/26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</p:spPr>
        <p:txBody>
          <a:bodyPr/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>
                <a:latin typeface="+mn-lt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1"/>
            <a:ext cx="2743200" cy="365125"/>
          </a:xfrm>
          <a:prstGeom prst="rect">
            <a:avLst/>
          </a:prstGeom>
        </p:spPr>
        <p:txBody>
          <a:bodyPr/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>
                <a:latin typeface="+mn-lt"/>
              </a:defRPr>
            </a:lvl1pPr>
          </a:lstStyle>
          <a:p>
            <a:pPr>
              <a:defRPr/>
            </a:pPr>
            <a:fld id="{5F11E6B8-501D-4E52-947F-A1A5A5A7BB0E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387392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1" y="365125"/>
            <a:ext cx="2628900" cy="5811838"/>
          </a:xfrm>
          <a:prstGeom prst="rect">
            <a:avLst/>
          </a:prstGeo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1" y="365125"/>
            <a:ext cx="7683500" cy="58118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356351"/>
            <a:ext cx="2743200" cy="365125"/>
          </a:xfrm>
          <a:prstGeom prst="rect">
            <a:avLst/>
          </a:prstGeom>
        </p:spPr>
        <p:txBody>
          <a:bodyPr/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>
                <a:latin typeface="+mn-lt"/>
              </a:defRPr>
            </a:lvl1pPr>
          </a:lstStyle>
          <a:p>
            <a:pPr>
              <a:defRPr/>
            </a:pPr>
            <a:fld id="{8FCCF704-E657-4B26-BB5F-375626E2EAF5}" type="datetimeFigureOut">
              <a:rPr lang="en-US"/>
              <a:pPr>
                <a:defRPr/>
              </a:pPr>
              <a:t>7/22/26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</p:spPr>
        <p:txBody>
          <a:bodyPr/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>
                <a:latin typeface="+mn-lt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1"/>
            <a:ext cx="2743200" cy="365125"/>
          </a:xfrm>
          <a:prstGeom prst="rect">
            <a:avLst/>
          </a:prstGeom>
        </p:spPr>
        <p:txBody>
          <a:bodyPr/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>
                <a:latin typeface="+mn-lt"/>
              </a:defRPr>
            </a:lvl1pPr>
          </a:lstStyle>
          <a:p>
            <a:pPr>
              <a:defRPr/>
            </a:pPr>
            <a:fld id="{19E8DDFF-5AD0-4076-88ED-B7D2BFC1532B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551477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4"/>
          <p:cNvSpPr>
            <a:spLocks noChangeArrowheads="1"/>
          </p:cNvSpPr>
          <p:nvPr userDrawn="1"/>
        </p:nvSpPr>
        <p:spPr bwMode="auto">
          <a:xfrm>
            <a:off x="6351" y="-7938"/>
            <a:ext cx="12181416" cy="308419"/>
          </a:xfrm>
          <a:prstGeom prst="rect">
            <a:avLst/>
          </a:prstGeom>
          <a:solidFill>
            <a:srgbClr val="000000"/>
          </a:solidFill>
          <a:ln w="9525" algn="ctr">
            <a:solidFill>
              <a:srgbClr val="000000"/>
            </a:solidFill>
            <a:round/>
            <a:headEnd/>
            <a:tailEnd/>
          </a:ln>
        </p:spPr>
        <p:txBody>
          <a:bodyPr lIns="92075" tIns="46038" rIns="92075" bIns="46038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>
              <a:defRPr/>
            </a:pPr>
            <a:endParaRPr lang="en-US" altLang="en-US" sz="1400" b="1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  <p:sp>
        <p:nvSpPr>
          <p:cNvPr id="3" name="Rectangle 2"/>
          <p:cNvSpPr/>
          <p:nvPr userDrawn="1"/>
        </p:nvSpPr>
        <p:spPr>
          <a:xfrm>
            <a:off x="5457" y="841845"/>
            <a:ext cx="12180193" cy="199460"/>
          </a:xfrm>
          <a:prstGeom prst="rect">
            <a:avLst/>
          </a:prstGeom>
          <a:solidFill>
            <a:srgbClr val="008000"/>
          </a:solidFill>
          <a:ln w="12700">
            <a:solidFill>
              <a:schemeClr val="tx1"/>
            </a:solidFill>
          </a:ln>
          <a:scene3d>
            <a:camera prst="orthographicFront"/>
            <a:lightRig rig="threePt" dir="t"/>
          </a:scene3d>
          <a:sp3d>
            <a:bevelT w="165100" prst="coolSlant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sz="1800">
              <a:solidFill>
                <a:prstClr val="white"/>
              </a:solidFill>
            </a:endParaRPr>
          </a:p>
        </p:txBody>
      </p:sp>
      <p:sp>
        <p:nvSpPr>
          <p:cNvPr id="4" name="Rectangle 16"/>
          <p:cNvSpPr>
            <a:spLocks noChangeArrowheads="1"/>
          </p:cNvSpPr>
          <p:nvPr userDrawn="1"/>
        </p:nvSpPr>
        <p:spPr bwMode="auto">
          <a:xfrm>
            <a:off x="5169304" y="813207"/>
            <a:ext cx="1853392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>
              <a:defRPr/>
            </a:pPr>
            <a:r>
              <a:rPr lang="en-US" altLang="en-US" sz="1200" b="1">
                <a:solidFill>
                  <a:srgbClr val="F2F2F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UNCLASSIFIED//FOUO</a:t>
            </a:r>
          </a:p>
        </p:txBody>
      </p:sp>
      <p:sp>
        <p:nvSpPr>
          <p:cNvPr id="5" name="Rectangle 4"/>
          <p:cNvSpPr/>
          <p:nvPr userDrawn="1"/>
        </p:nvSpPr>
        <p:spPr>
          <a:xfrm>
            <a:off x="1" y="6428866"/>
            <a:ext cx="12192000" cy="429134"/>
          </a:xfrm>
          <a:prstGeom prst="rect">
            <a:avLst/>
          </a:prstGeom>
          <a:solidFill>
            <a:srgbClr val="FFFF00"/>
          </a:solidFill>
          <a:ln w="12700">
            <a:solidFill>
              <a:schemeClr val="tx1"/>
            </a:solidFill>
          </a:ln>
          <a:scene3d>
            <a:camera prst="orthographicFront"/>
            <a:lightRig rig="threePt" dir="t"/>
          </a:scene3d>
          <a:sp3d>
            <a:bevelT w="165100" prst="coolSlant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sz="1800">
              <a:solidFill>
                <a:prstClr val="white"/>
              </a:solidFill>
            </a:endParaRPr>
          </a:p>
        </p:txBody>
      </p:sp>
      <p:pic>
        <p:nvPicPr>
          <p:cNvPr id="6" name="Picture 16" descr="3SFG.png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9918" y="36513"/>
            <a:ext cx="857249" cy="762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Rectangle 6"/>
          <p:cNvSpPr/>
          <p:nvPr userDrawn="1"/>
        </p:nvSpPr>
        <p:spPr>
          <a:xfrm>
            <a:off x="2653936" y="32072"/>
            <a:ext cx="6883231" cy="83099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2400" b="1" spc="50" dirty="0">
                <a:ln w="13500">
                  <a:solidFill>
                    <a:srgbClr val="4F81BD">
                      <a:shade val="2500"/>
                      <a:alpha val="6500"/>
                    </a:srgbClr>
                  </a:solidFill>
                  <a:prstDash val="solid"/>
                </a:ln>
                <a:solidFill>
                  <a:srgbClr val="4F81BD">
                    <a:tint val="3000"/>
                    <a:alpha val="95000"/>
                  </a:srgb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4/3 Technical Information Support Company</a:t>
            </a:r>
          </a:p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400" b="1" i="1" spc="50" dirty="0">
                <a:ln w="13500">
                  <a:solidFill>
                    <a:srgbClr val="4F81BD">
                      <a:shade val="2500"/>
                      <a:alpha val="6500"/>
                    </a:srgbClr>
                  </a:solidFill>
                  <a:prstDash val="solid"/>
                </a:ln>
                <a:solidFill>
                  <a:srgbClr val="4F81BD">
                    <a:tint val="3000"/>
                    <a:alpha val="95000"/>
                  </a:srgb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Access to innovation</a:t>
            </a:r>
            <a:r>
              <a:rPr lang="en-US" sz="2400" b="1" spc="50" dirty="0">
                <a:ln w="13500">
                  <a:solidFill>
                    <a:srgbClr val="4F81BD">
                      <a:shade val="2500"/>
                      <a:alpha val="6500"/>
                    </a:srgbClr>
                  </a:solidFill>
                  <a:prstDash val="solid"/>
                </a:ln>
                <a:solidFill>
                  <a:srgbClr val="4F81BD">
                    <a:tint val="3000"/>
                    <a:alpha val="95000"/>
                  </a:srgb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</p:txBody>
      </p:sp>
      <p:sp>
        <p:nvSpPr>
          <p:cNvPr id="8" name="Text Placeholder 2"/>
          <p:cNvSpPr txBox="1">
            <a:spLocks/>
          </p:cNvSpPr>
          <p:nvPr userDrawn="1"/>
        </p:nvSpPr>
        <p:spPr>
          <a:xfrm>
            <a:off x="6352" y="6429376"/>
            <a:ext cx="12185649" cy="428625"/>
          </a:xfrm>
          <a:prstGeom prst="rect">
            <a:avLst/>
          </a:prstGeom>
        </p:spPr>
        <p:txBody>
          <a:bodyPr/>
          <a:lstStyle>
            <a:lvl1pPr marL="0" indent="0" algn="l" rtl="0" eaLnBrk="0" fontAlgn="base" hangingPunct="0">
              <a:spcBef>
                <a:spcPct val="20000"/>
              </a:spcBef>
              <a:spcAft>
                <a:spcPct val="0"/>
              </a:spcAft>
              <a:buNone/>
              <a:defRPr sz="1200" b="1" i="1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lt"/>
                <a:ea typeface="+mn-ea"/>
                <a:cs typeface="+mn-cs"/>
              </a:defRPr>
            </a:lvl1pPr>
            <a:lvl2pPr marL="457200" indent="0" algn="l" rtl="0" eaLnBrk="0" fontAlgn="base" hangingPunct="0">
              <a:spcBef>
                <a:spcPct val="20000"/>
              </a:spcBef>
              <a:spcAft>
                <a:spcPct val="0"/>
              </a:spcAft>
              <a:buNone/>
              <a:defRPr sz="1800">
                <a:solidFill>
                  <a:schemeClr val="tx1">
                    <a:tint val="75000"/>
                  </a:schemeClr>
                </a:solidFill>
                <a:latin typeface="+mn-lt"/>
              </a:defRPr>
            </a:lvl2pPr>
            <a:lvl3pPr marL="914400" indent="0" algn="l" rtl="0" eaLnBrk="0" fontAlgn="base" hangingPunct="0">
              <a:spcBef>
                <a:spcPct val="20000"/>
              </a:spcBef>
              <a:spcAft>
                <a:spcPct val="0"/>
              </a:spcAft>
              <a:buNone/>
              <a:defRPr sz="1600">
                <a:solidFill>
                  <a:schemeClr val="tx1">
                    <a:tint val="75000"/>
                  </a:schemeClr>
                </a:solidFill>
                <a:latin typeface="+mn-lt"/>
              </a:defRPr>
            </a:lvl3pPr>
            <a:lvl4pPr marL="1371600" indent="0" algn="l" rtl="0" eaLnBrk="0" fontAlgn="base" hangingPunct="0">
              <a:spcBef>
                <a:spcPct val="20000"/>
              </a:spcBef>
              <a:spcAft>
                <a:spcPct val="0"/>
              </a:spcAft>
              <a:buNone/>
              <a:defRPr sz="1400">
                <a:solidFill>
                  <a:schemeClr val="tx1">
                    <a:tint val="75000"/>
                  </a:schemeClr>
                </a:solidFill>
                <a:latin typeface="+mn-lt"/>
              </a:defRPr>
            </a:lvl4pPr>
            <a:lvl5pPr marL="1828800" indent="0" algn="l" rtl="0" eaLnBrk="0" fontAlgn="base" hangingPunct="0">
              <a:spcBef>
                <a:spcPct val="20000"/>
              </a:spcBef>
              <a:spcAft>
                <a:spcPct val="0"/>
              </a:spcAft>
              <a:buNone/>
              <a:defRPr sz="1400">
                <a:solidFill>
                  <a:schemeClr val="tx1">
                    <a:tint val="75000"/>
                  </a:schemeClr>
                </a:solidFill>
                <a:latin typeface="+mn-lt"/>
              </a:defRPr>
            </a:lvl5pPr>
            <a:lvl6pPr marL="2286000" indent="0" algn="l" rtl="0" fontAlgn="base">
              <a:spcBef>
                <a:spcPct val="20000"/>
              </a:spcBef>
              <a:spcAft>
                <a:spcPct val="0"/>
              </a:spcAft>
              <a:buNone/>
              <a:defRPr sz="1400">
                <a:solidFill>
                  <a:schemeClr val="tx1">
                    <a:tint val="75000"/>
                  </a:schemeClr>
                </a:solidFill>
                <a:latin typeface="+mn-lt"/>
              </a:defRPr>
            </a:lvl6pPr>
            <a:lvl7pPr marL="2743200" indent="0" algn="l" rtl="0" fontAlgn="base">
              <a:spcBef>
                <a:spcPct val="20000"/>
              </a:spcBef>
              <a:spcAft>
                <a:spcPct val="0"/>
              </a:spcAft>
              <a:buNone/>
              <a:defRPr sz="1400">
                <a:solidFill>
                  <a:schemeClr val="tx1">
                    <a:tint val="75000"/>
                  </a:schemeClr>
                </a:solidFill>
                <a:latin typeface="+mn-lt"/>
              </a:defRPr>
            </a:lvl7pPr>
            <a:lvl8pPr marL="3200400" indent="0" algn="l" rtl="0" fontAlgn="base">
              <a:spcBef>
                <a:spcPct val="20000"/>
              </a:spcBef>
              <a:spcAft>
                <a:spcPct val="0"/>
              </a:spcAft>
              <a:buNone/>
              <a:defRPr sz="1400">
                <a:solidFill>
                  <a:schemeClr val="tx1">
                    <a:tint val="75000"/>
                  </a:schemeClr>
                </a:solidFill>
                <a:latin typeface="+mn-lt"/>
              </a:defRPr>
            </a:lvl8pPr>
            <a:lvl9pPr marL="3657600" indent="0" algn="l" rtl="0" fontAlgn="base">
              <a:spcBef>
                <a:spcPct val="20000"/>
              </a:spcBef>
              <a:spcAft>
                <a:spcPct val="0"/>
              </a:spcAft>
              <a:buNone/>
              <a:defRPr sz="1400">
                <a:solidFill>
                  <a:schemeClr val="tx1">
                    <a:tint val="75000"/>
                  </a:schemeClr>
                </a:solidFill>
                <a:latin typeface="+mn-lt"/>
              </a:defRPr>
            </a:lvl9pPr>
          </a:lstStyle>
          <a:p>
            <a:pPr algn="ctr" defTabSz="914400">
              <a:defRPr/>
            </a:pPr>
            <a:r>
              <a:rPr lang="en-US" sz="1200" kern="0" dirty="0"/>
              <a:t>“Your Second Fox in a Box”</a:t>
            </a:r>
          </a:p>
        </p:txBody>
      </p:sp>
      <p:pic>
        <p:nvPicPr>
          <p:cNvPr id="9" name="Picture 11" descr="nps_ppt_slide"/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67667" y="1285875"/>
            <a:ext cx="8424333" cy="5127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02483081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56227650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9242674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image" Target="../media/image3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image" Target="../media/image2.png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6"/>
          <p:cNvSpPr>
            <a:spLocks noChangeArrowheads="1"/>
          </p:cNvSpPr>
          <p:nvPr userDrawn="1"/>
        </p:nvSpPr>
        <p:spPr bwMode="auto">
          <a:xfrm>
            <a:off x="-4233" y="-7938"/>
            <a:ext cx="12192000" cy="835026"/>
          </a:xfrm>
          <a:prstGeom prst="rect">
            <a:avLst/>
          </a:prstGeom>
          <a:solidFill>
            <a:srgbClr val="000000"/>
          </a:solidFill>
          <a:ln w="9525" algn="ctr">
            <a:solidFill>
              <a:srgbClr val="000000"/>
            </a:solidFill>
            <a:round/>
            <a:headEnd/>
            <a:tailEnd/>
          </a:ln>
        </p:spPr>
        <p:txBody>
          <a:bodyPr wrap="square" lIns="92075" tIns="46038" rIns="92075" bIns="46038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>
              <a:defRPr/>
            </a:pPr>
            <a:endParaRPr lang="en-US" altLang="en-US" sz="1400" b="1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  <p:sp>
        <p:nvSpPr>
          <p:cNvPr id="8" name="Rectangle 7"/>
          <p:cNvSpPr/>
          <p:nvPr userDrawn="1"/>
        </p:nvSpPr>
        <p:spPr>
          <a:xfrm>
            <a:off x="5903" y="842964"/>
            <a:ext cx="12180193" cy="199460"/>
          </a:xfrm>
          <a:prstGeom prst="rect">
            <a:avLst/>
          </a:prstGeom>
          <a:solidFill>
            <a:srgbClr val="008000"/>
          </a:solidFill>
          <a:ln w="12700">
            <a:solidFill>
              <a:schemeClr val="tx1"/>
            </a:solidFill>
          </a:ln>
          <a:scene3d>
            <a:camera prst="orthographicFront"/>
            <a:lightRig rig="threePt" dir="t"/>
          </a:scene3d>
          <a:sp3d>
            <a:bevelT w="165100" prst="coolSlant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sz="1800">
              <a:solidFill>
                <a:prstClr val="white"/>
              </a:solidFill>
            </a:endParaRPr>
          </a:p>
        </p:txBody>
      </p:sp>
      <p:sp>
        <p:nvSpPr>
          <p:cNvPr id="1030" name="Rectangle 8"/>
          <p:cNvSpPr>
            <a:spLocks noChangeArrowheads="1"/>
          </p:cNvSpPr>
          <p:nvPr userDrawn="1"/>
        </p:nvSpPr>
        <p:spPr bwMode="auto">
          <a:xfrm>
            <a:off x="5871419" y="813207"/>
            <a:ext cx="449162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>
              <a:defRPr/>
            </a:pPr>
            <a:r>
              <a:rPr lang="en-US" altLang="en-US" sz="1200" b="1" dirty="0">
                <a:solidFill>
                  <a:srgbClr val="F2F2F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CUI</a:t>
            </a:r>
          </a:p>
        </p:txBody>
      </p:sp>
      <p:sp>
        <p:nvSpPr>
          <p:cNvPr id="10" name="Rectangle 9"/>
          <p:cNvSpPr/>
          <p:nvPr userDrawn="1"/>
        </p:nvSpPr>
        <p:spPr>
          <a:xfrm>
            <a:off x="1" y="6612578"/>
            <a:ext cx="12192000" cy="245422"/>
          </a:xfrm>
          <a:prstGeom prst="rect">
            <a:avLst/>
          </a:prstGeom>
          <a:solidFill>
            <a:srgbClr val="FFFF00"/>
          </a:solidFill>
          <a:ln w="12700">
            <a:solidFill>
              <a:schemeClr val="tx1"/>
            </a:solidFill>
          </a:ln>
          <a:scene3d>
            <a:camera prst="orthographicFront"/>
            <a:lightRig rig="threePt" dir="t"/>
          </a:scene3d>
          <a:sp3d>
            <a:bevelT w="165100" prst="coolSlant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sz="1800">
              <a:solidFill>
                <a:prstClr val="white"/>
              </a:solidFill>
            </a:endParaRPr>
          </a:p>
        </p:txBody>
      </p:sp>
      <p:sp>
        <p:nvSpPr>
          <p:cNvPr id="12" name="Rectangle 11"/>
          <p:cNvSpPr/>
          <p:nvPr userDrawn="1"/>
        </p:nvSpPr>
        <p:spPr>
          <a:xfrm>
            <a:off x="4494194" y="313099"/>
            <a:ext cx="3092257" cy="4616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2400" b="1" spc="50" dirty="0">
                <a:ln w="13500">
                  <a:solidFill>
                    <a:srgbClr val="4F81BD">
                      <a:shade val="2500"/>
                      <a:alpha val="6500"/>
                    </a:srgbClr>
                  </a:solidFill>
                  <a:prstDash val="solid"/>
                </a:ln>
                <a:solidFill>
                  <a:srgbClr val="4F81BD">
                    <a:tint val="3000"/>
                    <a:alpha val="95000"/>
                  </a:srgb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Welcome Wingman</a:t>
            </a:r>
          </a:p>
        </p:txBody>
      </p:sp>
      <p:sp>
        <p:nvSpPr>
          <p:cNvPr id="13" name="Text Placeholder 2"/>
          <p:cNvSpPr txBox="1">
            <a:spLocks/>
          </p:cNvSpPr>
          <p:nvPr userDrawn="1"/>
        </p:nvSpPr>
        <p:spPr>
          <a:xfrm>
            <a:off x="6352" y="6429376"/>
            <a:ext cx="12185649" cy="428625"/>
          </a:xfrm>
          <a:prstGeom prst="rect">
            <a:avLst/>
          </a:prstGeom>
        </p:spPr>
        <p:txBody>
          <a:bodyPr/>
          <a:lstStyle>
            <a:lvl1pPr marL="0" indent="0" algn="l" rtl="0" eaLnBrk="0" fontAlgn="base" hangingPunct="0">
              <a:spcBef>
                <a:spcPct val="20000"/>
              </a:spcBef>
              <a:spcAft>
                <a:spcPct val="0"/>
              </a:spcAft>
              <a:buNone/>
              <a:defRPr sz="1200" b="1" i="1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lt"/>
                <a:ea typeface="+mn-ea"/>
                <a:cs typeface="+mn-cs"/>
              </a:defRPr>
            </a:lvl1pPr>
            <a:lvl2pPr marL="457200" indent="0" algn="l" rtl="0" eaLnBrk="0" fontAlgn="base" hangingPunct="0">
              <a:spcBef>
                <a:spcPct val="20000"/>
              </a:spcBef>
              <a:spcAft>
                <a:spcPct val="0"/>
              </a:spcAft>
              <a:buNone/>
              <a:defRPr sz="1800">
                <a:solidFill>
                  <a:schemeClr val="tx1">
                    <a:tint val="75000"/>
                  </a:schemeClr>
                </a:solidFill>
                <a:latin typeface="+mn-lt"/>
              </a:defRPr>
            </a:lvl2pPr>
            <a:lvl3pPr marL="914400" indent="0" algn="l" rtl="0" eaLnBrk="0" fontAlgn="base" hangingPunct="0">
              <a:spcBef>
                <a:spcPct val="20000"/>
              </a:spcBef>
              <a:spcAft>
                <a:spcPct val="0"/>
              </a:spcAft>
              <a:buNone/>
              <a:defRPr sz="1600">
                <a:solidFill>
                  <a:schemeClr val="tx1">
                    <a:tint val="75000"/>
                  </a:schemeClr>
                </a:solidFill>
                <a:latin typeface="+mn-lt"/>
              </a:defRPr>
            </a:lvl3pPr>
            <a:lvl4pPr marL="1371600" indent="0" algn="l" rtl="0" eaLnBrk="0" fontAlgn="base" hangingPunct="0">
              <a:spcBef>
                <a:spcPct val="20000"/>
              </a:spcBef>
              <a:spcAft>
                <a:spcPct val="0"/>
              </a:spcAft>
              <a:buNone/>
              <a:defRPr sz="1400">
                <a:solidFill>
                  <a:schemeClr val="tx1">
                    <a:tint val="75000"/>
                  </a:schemeClr>
                </a:solidFill>
                <a:latin typeface="+mn-lt"/>
              </a:defRPr>
            </a:lvl4pPr>
            <a:lvl5pPr marL="1828800" indent="0" algn="l" rtl="0" eaLnBrk="0" fontAlgn="base" hangingPunct="0">
              <a:spcBef>
                <a:spcPct val="20000"/>
              </a:spcBef>
              <a:spcAft>
                <a:spcPct val="0"/>
              </a:spcAft>
              <a:buNone/>
              <a:defRPr sz="1400">
                <a:solidFill>
                  <a:schemeClr val="tx1">
                    <a:tint val="75000"/>
                  </a:schemeClr>
                </a:solidFill>
                <a:latin typeface="+mn-lt"/>
              </a:defRPr>
            </a:lvl5pPr>
            <a:lvl6pPr marL="2286000" indent="0" algn="l" rtl="0" fontAlgn="base">
              <a:spcBef>
                <a:spcPct val="20000"/>
              </a:spcBef>
              <a:spcAft>
                <a:spcPct val="0"/>
              </a:spcAft>
              <a:buNone/>
              <a:defRPr sz="1400">
                <a:solidFill>
                  <a:schemeClr val="tx1">
                    <a:tint val="75000"/>
                  </a:schemeClr>
                </a:solidFill>
                <a:latin typeface="+mn-lt"/>
              </a:defRPr>
            </a:lvl6pPr>
            <a:lvl7pPr marL="2743200" indent="0" algn="l" rtl="0" fontAlgn="base">
              <a:spcBef>
                <a:spcPct val="20000"/>
              </a:spcBef>
              <a:spcAft>
                <a:spcPct val="0"/>
              </a:spcAft>
              <a:buNone/>
              <a:defRPr sz="1400">
                <a:solidFill>
                  <a:schemeClr val="tx1">
                    <a:tint val="75000"/>
                  </a:schemeClr>
                </a:solidFill>
                <a:latin typeface="+mn-lt"/>
              </a:defRPr>
            </a:lvl7pPr>
            <a:lvl8pPr marL="3200400" indent="0" algn="l" rtl="0" fontAlgn="base">
              <a:spcBef>
                <a:spcPct val="20000"/>
              </a:spcBef>
              <a:spcAft>
                <a:spcPct val="0"/>
              </a:spcAft>
              <a:buNone/>
              <a:defRPr sz="1400">
                <a:solidFill>
                  <a:schemeClr val="tx1">
                    <a:tint val="75000"/>
                  </a:schemeClr>
                </a:solidFill>
                <a:latin typeface="+mn-lt"/>
              </a:defRPr>
            </a:lvl8pPr>
            <a:lvl9pPr marL="3657600" indent="0" algn="l" rtl="0" fontAlgn="base">
              <a:spcBef>
                <a:spcPct val="20000"/>
              </a:spcBef>
              <a:spcAft>
                <a:spcPct val="0"/>
              </a:spcAft>
              <a:buNone/>
              <a:defRPr sz="1400">
                <a:solidFill>
                  <a:schemeClr val="tx1">
                    <a:tint val="75000"/>
                  </a:schemeClr>
                </a:solidFill>
                <a:latin typeface="+mn-lt"/>
              </a:defRPr>
            </a:lvl9pPr>
          </a:lstStyle>
          <a:p>
            <a:pPr algn="ctr" defTabSz="914400">
              <a:defRPr/>
            </a:pPr>
            <a:endParaRPr lang="en-US" sz="1200" kern="0" dirty="0"/>
          </a:p>
        </p:txBody>
      </p:sp>
      <p:pic>
        <p:nvPicPr>
          <p:cNvPr id="1037" name="Picture 11" descr="nps_ppt_slide"/>
          <p:cNvPicPr>
            <a:picLocks noChangeAspect="1" noChangeArrowheads="1"/>
          </p:cNvPicPr>
          <p:nvPr userDrawn="1"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10314" y="1309765"/>
            <a:ext cx="8675334" cy="528040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" name="Picture 1" descr="File:US Air Force Logo Solid Colour.svg">
            <a:extLst>
              <a:ext uri="{FF2B5EF4-FFF2-40B4-BE49-F238E27FC236}">
                <a16:creationId xmlns:a16="http://schemas.microsoft.com/office/drawing/2014/main" id="{820A1212-98EB-7E71-E5F2-00DE12C3B1DE}"/>
              </a:ext>
            </a:extLst>
          </p:cNvPr>
          <p:cNvPicPr>
            <a:picLocks noChangeAspect="1"/>
          </p:cNvPicPr>
          <p:nvPr userDrawn="1"/>
        </p:nvPicPr>
        <p:blipFill>
          <a:blip r:embed="rId17"/>
          <a:stretch>
            <a:fillRect/>
          </a:stretch>
        </p:blipFill>
        <p:spPr>
          <a:xfrm>
            <a:off x="160755" y="15953"/>
            <a:ext cx="1011395" cy="789099"/>
          </a:xfrm>
          <a:prstGeom prst="rect">
            <a:avLst/>
          </a:prstGeom>
        </p:spPr>
      </p:pic>
      <p:pic>
        <p:nvPicPr>
          <p:cNvPr id="3" name="Picture 2" descr="File:Logo of the United States Army.svg">
            <a:extLst>
              <a:ext uri="{FF2B5EF4-FFF2-40B4-BE49-F238E27FC236}">
                <a16:creationId xmlns:a16="http://schemas.microsoft.com/office/drawing/2014/main" id="{6C60B765-44ED-97A4-2A0C-CB928FA6A4A9}"/>
              </a:ext>
            </a:extLst>
          </p:cNvPr>
          <p:cNvPicPr>
            <a:picLocks noChangeAspect="1"/>
          </p:cNvPicPr>
          <p:nvPr userDrawn="1"/>
        </p:nvPicPr>
        <p:blipFill>
          <a:blip r:embed="rId18"/>
          <a:stretch>
            <a:fillRect/>
          </a:stretch>
        </p:blipFill>
        <p:spPr>
          <a:xfrm>
            <a:off x="11481455" y="20701"/>
            <a:ext cx="620537" cy="8302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35988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</p:sldLayoutIdLst>
  <p:txStyles>
    <p:titleStyle>
      <a:lvl1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2pPr>
      <a:lvl3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3pPr>
      <a:lvl4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4pPr>
      <a:lvl5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5pPr>
      <a:lvl6pPr marL="4572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6pPr>
      <a:lvl7pPr marL="9144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7pPr>
      <a:lvl8pPr marL="13716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8pPr>
      <a:lvl9pPr marL="18288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9pPr>
    </p:titleStyle>
    <p:bodyStyle>
      <a:lvl1pPr marL="228600" indent="-228600" algn="l" rtl="0" eaLnBrk="0" fontAlgn="base" hangingPunct="0">
        <a:lnSpc>
          <a:spcPct val="90000"/>
        </a:lnSpc>
        <a:spcBef>
          <a:spcPts val="1000"/>
        </a:spcBef>
        <a:spcAft>
          <a:spcPct val="0"/>
        </a:spcAft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hyperlink" Target="http://localhost:5173/" TargetMode="Externa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6B9367DD-0F75-93F4-2BDB-BB2BD7BF59BB}"/>
              </a:ext>
            </a:extLst>
          </p:cNvPr>
          <p:cNvSpPr txBox="1"/>
          <p:nvPr/>
        </p:nvSpPr>
        <p:spPr>
          <a:xfrm>
            <a:off x="3283907" y="1775902"/>
            <a:ext cx="562418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/>
              <a:t>Team:  </a:t>
            </a:r>
            <a:r>
              <a:rPr lang="en-US" sz="2000" b="1" dirty="0">
                <a:latin typeface="Copperplate Gothic Bold" panose="020E0705020206020404" pitchFamily="34" charset="77"/>
                <a:ea typeface="Apple Color Emoji" pitchFamily="2" charset="0"/>
                <a:cs typeface="Baloo Bhaijaan" panose="03080902040302020200" pitchFamily="66" charset="-78"/>
              </a:rPr>
              <a:t>Code Force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08A73BF-1D11-5176-86A9-3D55B252C3F7}"/>
              </a:ext>
            </a:extLst>
          </p:cNvPr>
          <p:cNvSpPr txBox="1"/>
          <p:nvPr/>
        </p:nvSpPr>
        <p:spPr>
          <a:xfrm>
            <a:off x="7220729" y="2987423"/>
            <a:ext cx="3374728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u="sng" dirty="0"/>
              <a:t>Back End</a:t>
            </a:r>
          </a:p>
          <a:p>
            <a:r>
              <a:rPr lang="en-US" dirty="0"/>
              <a:t>A1C Aldebaran Fox</a:t>
            </a:r>
          </a:p>
          <a:p>
            <a:r>
              <a:rPr lang="en-US" dirty="0"/>
              <a:t>SrA Alex Deabenderfer</a:t>
            </a:r>
          </a:p>
          <a:p>
            <a:r>
              <a:rPr lang="en-US" dirty="0"/>
              <a:t>A1C John Lee</a:t>
            </a:r>
          </a:p>
          <a:p>
            <a:r>
              <a:rPr lang="en-US" dirty="0"/>
              <a:t>SFC Russell Neal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9714965-44B2-E4A7-6EF9-07C1B761BD4E}"/>
              </a:ext>
            </a:extLst>
          </p:cNvPr>
          <p:cNvSpPr txBox="1"/>
          <p:nvPr/>
        </p:nvSpPr>
        <p:spPr>
          <a:xfrm>
            <a:off x="1596544" y="2978850"/>
            <a:ext cx="3374728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b="1" u="sng" dirty="0"/>
              <a:t>Front End</a:t>
            </a:r>
          </a:p>
          <a:p>
            <a:pPr algn="r"/>
            <a:r>
              <a:rPr lang="en-US" dirty="0"/>
              <a:t>MSgt TJ Fegurgur</a:t>
            </a:r>
          </a:p>
          <a:p>
            <a:pPr algn="r"/>
            <a:r>
              <a:rPr lang="en-US" dirty="0"/>
              <a:t>A1C Darrien Oster</a:t>
            </a:r>
          </a:p>
          <a:p>
            <a:pPr algn="r"/>
            <a:r>
              <a:rPr lang="en-US" dirty="0"/>
              <a:t>A1C Immanuel Gainer</a:t>
            </a:r>
          </a:p>
          <a:p>
            <a:pPr algn="r"/>
            <a:r>
              <a:rPr lang="en-US" dirty="0"/>
              <a:t>A1C Connor Arretche</a:t>
            </a:r>
          </a:p>
        </p:txBody>
      </p:sp>
    </p:spTree>
    <p:extLst>
      <p:ext uri="{BB962C8B-B14F-4D97-AF65-F5344CB8AC3E}">
        <p14:creationId xmlns:p14="http://schemas.microsoft.com/office/powerpoint/2010/main" val="328378180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4B325368-BDE0-6DF5-F1B6-C597E4AA896F}"/>
              </a:ext>
            </a:extLst>
          </p:cNvPr>
          <p:cNvSpPr txBox="1"/>
          <p:nvPr/>
        </p:nvSpPr>
        <p:spPr>
          <a:xfrm>
            <a:off x="3283907" y="1775902"/>
            <a:ext cx="562418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/>
              <a:t>Problem Statement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0205CC6-C75D-6A2E-D301-8109E772C054}"/>
              </a:ext>
            </a:extLst>
          </p:cNvPr>
          <p:cNvSpPr txBox="1"/>
          <p:nvPr/>
        </p:nvSpPr>
        <p:spPr>
          <a:xfrm>
            <a:off x="2639860" y="2567836"/>
            <a:ext cx="6912279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dirty="0"/>
              <a:t>In-processing members into the unit relies on fragmented record-keeping across spreadsheets, paper documents, and different systems to track Airmen's progress and compliance. This lack of a centralized, authoritative source of information delays the identification of overdue actions and limits visibility into individual and unit readiness, increasing the risk of non-compliance and reduced operational effectiveness.</a:t>
            </a:r>
          </a:p>
        </p:txBody>
      </p:sp>
    </p:spTree>
    <p:extLst>
      <p:ext uri="{BB962C8B-B14F-4D97-AF65-F5344CB8AC3E}">
        <p14:creationId xmlns:p14="http://schemas.microsoft.com/office/powerpoint/2010/main" val="32433899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DCCE2240-BF5A-162E-1CA8-FE6C19FA55AB}"/>
              </a:ext>
            </a:extLst>
          </p:cNvPr>
          <p:cNvSpPr txBox="1"/>
          <p:nvPr/>
        </p:nvSpPr>
        <p:spPr>
          <a:xfrm>
            <a:off x="3283907" y="1775902"/>
            <a:ext cx="562418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/>
              <a:t>Solution Statement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176186C-3418-AC0A-CC67-9AA25003975D}"/>
              </a:ext>
            </a:extLst>
          </p:cNvPr>
          <p:cNvSpPr txBox="1"/>
          <p:nvPr/>
        </p:nvSpPr>
        <p:spPr>
          <a:xfrm>
            <a:off x="2639860" y="2567836"/>
            <a:ext cx="6912279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dirty="0"/>
              <a:t>Our Capstone application consolidates in-processing tracking into a single centralized platform that automatically flags overdue requirements and provides real-time visibility into individual and unit-level compliance status. By replacing manual, fragmented tracking methods with an authoritative digital system, the application reduces administrative burden, accelerates identification of gaps, and strengthens overall force readiness.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6C624F5-59E4-BACE-07A1-5FB5F61F558D}"/>
              </a:ext>
            </a:extLst>
          </p:cNvPr>
          <p:cNvSpPr txBox="1"/>
          <p:nvPr/>
        </p:nvSpPr>
        <p:spPr>
          <a:xfrm>
            <a:off x="2639859" y="4990985"/>
            <a:ext cx="69122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Link to App: </a:t>
            </a:r>
            <a:r>
              <a:rPr lang="en-US" dirty="0">
                <a:hlinkClick r:id="rId2"/>
              </a:rPr>
              <a:t>Welcome Wingman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9564169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6906355-DF2A-7705-85A5-A93BB5A58CE5}"/>
              </a:ext>
            </a:extLst>
          </p:cNvPr>
          <p:cNvSpPr txBox="1"/>
          <p:nvPr/>
        </p:nvSpPr>
        <p:spPr>
          <a:xfrm>
            <a:off x="3283907" y="1427245"/>
            <a:ext cx="562418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/>
              <a:t>Future Features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9B15DA2-4663-FD9E-D12B-FBB70B895DD1}"/>
              </a:ext>
            </a:extLst>
          </p:cNvPr>
          <p:cNvSpPr txBox="1"/>
          <p:nvPr/>
        </p:nvSpPr>
        <p:spPr>
          <a:xfrm>
            <a:off x="2639860" y="2567836"/>
            <a:ext cx="6912279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dirty="0"/>
              <a:t>Form Upload and Validation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dirty="0"/>
              <a:t>File Storage for user avatar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dirty="0"/>
              <a:t>Training and Certifications page</a:t>
            </a:r>
          </a:p>
          <a:p>
            <a:pPr marL="742950" lvl="1" indent="-285750" algn="just">
              <a:buFont typeface="Arial" panose="020B0604020202020204" pitchFamily="34" charset="0"/>
              <a:buChar char="•"/>
            </a:pPr>
            <a:r>
              <a:rPr lang="en-US" dirty="0"/>
              <a:t>Annual Certifications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dirty="0"/>
              <a:t>Expand to become an overall Task Management system, not just for in-processing</a:t>
            </a:r>
          </a:p>
          <a:p>
            <a:pPr marL="742950" lvl="1" indent="-285750" algn="just">
              <a:buFont typeface="Arial" panose="020B0604020202020204" pitchFamily="34" charset="0"/>
              <a:buChar char="•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32903935"/>
      </p:ext>
    </p:extLst>
  </p:cSld>
  <p:clrMapOvr>
    <a:masterClrMapping/>
  </p:clrMapOvr>
</p:sld>
</file>

<file path=ppt/theme/theme1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1817</TotalTime>
  <Words>189</Words>
  <Application>Microsoft Macintosh PowerPoint</Application>
  <PresentationFormat>Widescreen</PresentationFormat>
  <Paragraphs>22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Calibri Light</vt:lpstr>
      <vt:lpstr>Copperplate Gothic Bold</vt:lpstr>
      <vt:lpstr>Custom Design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Russell Neal</dc:creator>
  <cp:lastModifiedBy>Russell Neal</cp:lastModifiedBy>
  <cp:revision>9</cp:revision>
  <dcterms:created xsi:type="dcterms:W3CDTF">2026-07-21T13:59:54Z</dcterms:created>
  <dcterms:modified xsi:type="dcterms:W3CDTF">2026-07-22T20:17:25Z</dcterms:modified>
</cp:coreProperties>
</file>