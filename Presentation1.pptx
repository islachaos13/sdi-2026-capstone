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85"/>
    <p:restoredTop sz="94627"/>
  </p:normalViewPr>
  <p:slideViewPr>
    <p:cSldViewPr snapToGrid="0">
      <p:cViewPr varScale="1">
        <p:scale>
          <a:sx n="194" d="100"/>
          <a:sy n="194" d="100"/>
        </p:scale>
        <p:origin x="180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74313" y="6515932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B420D855-A92F-4663-AE82-AABD62D7EE0B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843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83316D38-8C76-41AE-BBEB-6C75B4AF02C2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7B6CB29A-1548-4DD5-B140-6B2F1B2C1C7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28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C6D0AEFE-F718-42CE-92AC-A355D2B1F083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6E0432DD-3022-4B79-ADC3-576652E0D9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155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825625"/>
            <a:ext cx="515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1EF5E2CC-DA79-4853-8258-AF060453E055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BF26677F-0461-4469-B2E9-76729843E5B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172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9328697D-D40A-4151-BFB8-91A0C9AACDF7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7208E2E0-59F3-469B-AE70-CEC9BDD25C8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247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5AF5A10B-18AC-4241-8C4F-728F480E8639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E667326E-5F03-4324-85E2-67F51579D59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78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5E2EB4C6-6375-417E-93D6-8C4223D7EAFD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B3CC591E-2C5A-439A-B2C9-6F751105AB5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974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1E5348A5-BD9C-442E-9ECC-DB0303A85F47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BBE31A86-A818-4477-A4C3-18911CC9D37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853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1A1A212E-A63D-4047-BB50-95DD55E88100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4D129F03-6940-41DE-B049-F6F50569C70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344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EBB0B5FD-49DB-473C-854B-F8F23DC4B4E3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5F11E6B8-501D-4E52-947F-A1A5A5A7BB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739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6835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8FCCF704-E657-4B26-BB5F-375626E2EAF5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19E8DDFF-5AD0-4076-88ED-B7D2BFC1532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5147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>
            <a:spLocks noChangeArrowheads="1"/>
          </p:cNvSpPr>
          <p:nvPr userDrawn="1"/>
        </p:nvSpPr>
        <p:spPr bwMode="auto">
          <a:xfrm>
            <a:off x="6351" y="-7938"/>
            <a:ext cx="12181416" cy="308419"/>
          </a:xfrm>
          <a:prstGeom prst="rect">
            <a:avLst/>
          </a:prstGeom>
          <a:solidFill>
            <a:srgbClr val="000000"/>
          </a:solidFill>
          <a:ln w="9525" algn="ctr">
            <a:solidFill>
              <a:srgbClr val="000000"/>
            </a:solidFill>
            <a:round/>
            <a:headEnd/>
            <a:tailEnd/>
          </a:ln>
        </p:spPr>
        <p:txBody>
          <a:bodyPr lIns="92075" tIns="46038" rIns="92075" bIns="4603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defRPr/>
            </a:pPr>
            <a:endParaRPr lang="en-US" altLang="en-US" sz="1400" b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3" name="Rectangle 2"/>
          <p:cNvSpPr/>
          <p:nvPr userDrawn="1"/>
        </p:nvSpPr>
        <p:spPr>
          <a:xfrm>
            <a:off x="5457" y="841845"/>
            <a:ext cx="12180193" cy="199460"/>
          </a:xfrm>
          <a:prstGeom prst="rect">
            <a:avLst/>
          </a:prstGeom>
          <a:solidFill>
            <a:srgbClr val="008000"/>
          </a:solidFill>
          <a:ln w="1270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4" name="Rectangle 16"/>
          <p:cNvSpPr>
            <a:spLocks noChangeArrowheads="1"/>
          </p:cNvSpPr>
          <p:nvPr userDrawn="1"/>
        </p:nvSpPr>
        <p:spPr bwMode="auto">
          <a:xfrm>
            <a:off x="5169304" y="813207"/>
            <a:ext cx="185339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1200" b="1">
                <a:solidFill>
                  <a:srgbClr val="F2F2F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UNCLASSIFIED//FOUO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1" y="6428866"/>
            <a:ext cx="12192000" cy="429134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pic>
        <p:nvPicPr>
          <p:cNvPr id="6" name="Picture 16" descr="3SFG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918" y="36513"/>
            <a:ext cx="857249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6"/>
          <p:cNvSpPr/>
          <p:nvPr userDrawn="1"/>
        </p:nvSpPr>
        <p:spPr>
          <a:xfrm>
            <a:off x="2653936" y="32072"/>
            <a:ext cx="688323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1" spc="50" dirty="0">
                <a:ln w="13500">
                  <a:solidFill>
                    <a:srgbClr val="4F81BD">
                      <a:shade val="2500"/>
                      <a:alpha val="6500"/>
                    </a:srgbClr>
                  </a:solidFill>
                  <a:prstDash val="solid"/>
                </a:ln>
                <a:solidFill>
                  <a:srgbClr val="4F81BD">
                    <a:tint val="3000"/>
                    <a:alpha val="9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4/3 Technical Information Support Company</a:t>
            </a: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b="1" i="1" spc="50" dirty="0">
                <a:ln w="13500">
                  <a:solidFill>
                    <a:srgbClr val="4F81BD">
                      <a:shade val="2500"/>
                      <a:alpha val="6500"/>
                    </a:srgbClr>
                  </a:solidFill>
                  <a:prstDash val="solid"/>
                </a:ln>
                <a:solidFill>
                  <a:srgbClr val="4F81BD">
                    <a:tint val="3000"/>
                    <a:alpha val="9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Access to innovation</a:t>
            </a:r>
            <a:r>
              <a:rPr lang="en-US" sz="2400" b="1" spc="50" dirty="0">
                <a:ln w="13500">
                  <a:solidFill>
                    <a:srgbClr val="4F81BD">
                      <a:shade val="2500"/>
                      <a:alpha val="6500"/>
                    </a:srgbClr>
                  </a:solidFill>
                  <a:prstDash val="solid"/>
                </a:ln>
                <a:solidFill>
                  <a:srgbClr val="4F81BD">
                    <a:tint val="3000"/>
                    <a:alpha val="9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8" name="Text Placeholder 2"/>
          <p:cNvSpPr txBox="1">
            <a:spLocks/>
          </p:cNvSpPr>
          <p:nvPr userDrawn="1"/>
        </p:nvSpPr>
        <p:spPr>
          <a:xfrm>
            <a:off x="6352" y="6429376"/>
            <a:ext cx="12185649" cy="42862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200" b="1" i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800">
                <a:solidFill>
                  <a:schemeClr val="tx1">
                    <a:tint val="75000"/>
                  </a:schemeClr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>
                <a:solidFill>
                  <a:schemeClr val="tx1">
                    <a:tint val="75000"/>
                  </a:schemeClr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9pPr>
          </a:lstStyle>
          <a:p>
            <a:pPr algn="ctr" defTabSz="914400">
              <a:defRPr/>
            </a:pPr>
            <a:r>
              <a:rPr lang="en-US" sz="1200" kern="0" dirty="0"/>
              <a:t>“Your Second Fox in a Box”</a:t>
            </a:r>
          </a:p>
        </p:txBody>
      </p:sp>
      <p:pic>
        <p:nvPicPr>
          <p:cNvPr id="9" name="Picture 11" descr="nps_ppt_slide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7667" y="1285875"/>
            <a:ext cx="8424333" cy="512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248308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622765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2426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6"/>
          <p:cNvSpPr>
            <a:spLocks noChangeArrowheads="1"/>
          </p:cNvSpPr>
          <p:nvPr userDrawn="1"/>
        </p:nvSpPr>
        <p:spPr bwMode="auto">
          <a:xfrm>
            <a:off x="-4233" y="-7938"/>
            <a:ext cx="12192000" cy="835026"/>
          </a:xfrm>
          <a:prstGeom prst="rect">
            <a:avLst/>
          </a:prstGeom>
          <a:solidFill>
            <a:srgbClr val="000000"/>
          </a:solidFill>
          <a:ln w="9525" algn="ctr">
            <a:solidFill>
              <a:srgbClr val="000000"/>
            </a:solidFill>
            <a:round/>
            <a:headEnd/>
            <a:tailEnd/>
          </a:ln>
        </p:spPr>
        <p:txBody>
          <a:bodyPr wrap="square" lIns="92075" tIns="46038" rIns="92075" bIns="4603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defRPr/>
            </a:pPr>
            <a:endParaRPr lang="en-US" altLang="en-US" sz="1400" b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5903" y="842964"/>
            <a:ext cx="12180193" cy="199460"/>
          </a:xfrm>
          <a:prstGeom prst="rect">
            <a:avLst/>
          </a:prstGeom>
          <a:solidFill>
            <a:srgbClr val="008000"/>
          </a:solidFill>
          <a:ln w="1270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1030" name="Rectangle 8"/>
          <p:cNvSpPr>
            <a:spLocks noChangeArrowheads="1"/>
          </p:cNvSpPr>
          <p:nvPr userDrawn="1"/>
        </p:nvSpPr>
        <p:spPr bwMode="auto">
          <a:xfrm>
            <a:off x="5871419" y="813207"/>
            <a:ext cx="44916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1200" b="1" dirty="0">
                <a:solidFill>
                  <a:srgbClr val="F2F2F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CUI</a:t>
            </a:r>
          </a:p>
        </p:txBody>
      </p:sp>
      <p:sp>
        <p:nvSpPr>
          <p:cNvPr id="10" name="Rectangle 9"/>
          <p:cNvSpPr/>
          <p:nvPr userDrawn="1"/>
        </p:nvSpPr>
        <p:spPr>
          <a:xfrm>
            <a:off x="1" y="6612578"/>
            <a:ext cx="12192000" cy="245422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12" name="Rectangle 11"/>
          <p:cNvSpPr/>
          <p:nvPr userDrawn="1"/>
        </p:nvSpPr>
        <p:spPr>
          <a:xfrm>
            <a:off x="4494194" y="313099"/>
            <a:ext cx="3092257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1" spc="50" dirty="0">
                <a:ln w="13500">
                  <a:solidFill>
                    <a:srgbClr val="4F81BD">
                      <a:shade val="2500"/>
                      <a:alpha val="6500"/>
                    </a:srgbClr>
                  </a:solidFill>
                  <a:prstDash val="solid"/>
                </a:ln>
                <a:solidFill>
                  <a:srgbClr val="4F81BD">
                    <a:tint val="3000"/>
                    <a:alpha val="9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Welcome Wingman</a:t>
            </a:r>
          </a:p>
        </p:txBody>
      </p:sp>
      <p:sp>
        <p:nvSpPr>
          <p:cNvPr id="13" name="Text Placeholder 2"/>
          <p:cNvSpPr txBox="1">
            <a:spLocks/>
          </p:cNvSpPr>
          <p:nvPr userDrawn="1"/>
        </p:nvSpPr>
        <p:spPr>
          <a:xfrm>
            <a:off x="6352" y="6429376"/>
            <a:ext cx="12185649" cy="42862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200" b="1" i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800">
                <a:solidFill>
                  <a:schemeClr val="tx1">
                    <a:tint val="75000"/>
                  </a:schemeClr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>
                <a:solidFill>
                  <a:schemeClr val="tx1">
                    <a:tint val="75000"/>
                  </a:schemeClr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9pPr>
          </a:lstStyle>
          <a:p>
            <a:pPr algn="ctr" defTabSz="914400">
              <a:defRPr/>
            </a:pPr>
            <a:endParaRPr lang="en-US" sz="1200" kern="0" dirty="0"/>
          </a:p>
        </p:txBody>
      </p:sp>
      <p:pic>
        <p:nvPicPr>
          <p:cNvPr id="1037" name="Picture 11" descr="nps_ppt_slide"/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0314" y="1309765"/>
            <a:ext cx="8675334" cy="52804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" descr="File:US Air Force Logo Solid Colour.svg">
            <a:extLst>
              <a:ext uri="{FF2B5EF4-FFF2-40B4-BE49-F238E27FC236}">
                <a16:creationId xmlns:a16="http://schemas.microsoft.com/office/drawing/2014/main" id="{820A1212-98EB-7E71-E5F2-00DE12C3B1D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60755" y="15953"/>
            <a:ext cx="1011395" cy="789099"/>
          </a:xfrm>
          <a:prstGeom prst="rect">
            <a:avLst/>
          </a:prstGeom>
        </p:spPr>
      </p:pic>
      <p:pic>
        <p:nvPicPr>
          <p:cNvPr id="3" name="Picture 2" descr="File:Logo of the United States Army.svg">
            <a:extLst>
              <a:ext uri="{FF2B5EF4-FFF2-40B4-BE49-F238E27FC236}">
                <a16:creationId xmlns:a16="http://schemas.microsoft.com/office/drawing/2014/main" id="{6C60B765-44ED-97A4-2A0C-CB928FA6A4A9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11481455" y="20701"/>
            <a:ext cx="620537" cy="83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598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9367DD-0F75-93F4-2BDB-BB2BD7BF59BB}"/>
              </a:ext>
            </a:extLst>
          </p:cNvPr>
          <p:cNvSpPr txBox="1"/>
          <p:nvPr/>
        </p:nvSpPr>
        <p:spPr>
          <a:xfrm>
            <a:off x="3283907" y="1775902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Team:  </a:t>
            </a:r>
            <a:r>
              <a:rPr lang="en-US" sz="2000" b="1" dirty="0">
                <a:latin typeface="Copperplate Gothic Bold" panose="020E0705020206020404" pitchFamily="34" charset="77"/>
                <a:ea typeface="Apple Color Emoji" pitchFamily="2" charset="0"/>
                <a:cs typeface="Baloo Bhaijaan" panose="03080902040302020200" pitchFamily="66" charset="-78"/>
              </a:rPr>
              <a:t>Code Force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8A73BF-1D11-5176-86A9-3D55B252C3F7}"/>
              </a:ext>
            </a:extLst>
          </p:cNvPr>
          <p:cNvSpPr txBox="1"/>
          <p:nvPr/>
        </p:nvSpPr>
        <p:spPr>
          <a:xfrm>
            <a:off x="7220729" y="2987423"/>
            <a:ext cx="33747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Back End</a:t>
            </a:r>
          </a:p>
          <a:p>
            <a:r>
              <a:rPr lang="en-US" dirty="0"/>
              <a:t>A1C Aldebaran Fox</a:t>
            </a:r>
          </a:p>
          <a:p>
            <a:r>
              <a:rPr lang="en-US" dirty="0"/>
              <a:t>SrA Alex Deabenderfer</a:t>
            </a:r>
          </a:p>
          <a:p>
            <a:r>
              <a:rPr lang="en-US" dirty="0"/>
              <a:t>A1C John Lee</a:t>
            </a:r>
          </a:p>
          <a:p>
            <a:r>
              <a:rPr lang="en-US" dirty="0"/>
              <a:t>SFC Russell Neal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714965-44B2-E4A7-6EF9-07C1B761BD4E}"/>
              </a:ext>
            </a:extLst>
          </p:cNvPr>
          <p:cNvSpPr txBox="1"/>
          <p:nvPr/>
        </p:nvSpPr>
        <p:spPr>
          <a:xfrm>
            <a:off x="1596544" y="2978850"/>
            <a:ext cx="33747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u="sng" dirty="0"/>
              <a:t>Front End</a:t>
            </a:r>
          </a:p>
          <a:p>
            <a:pPr algn="r"/>
            <a:r>
              <a:rPr lang="en-US" dirty="0"/>
              <a:t>MSgt TJ Fegurgur</a:t>
            </a:r>
          </a:p>
          <a:p>
            <a:pPr algn="r"/>
            <a:r>
              <a:rPr lang="en-US" dirty="0"/>
              <a:t>A1C Darrien Oster</a:t>
            </a:r>
          </a:p>
          <a:p>
            <a:pPr algn="r"/>
            <a:r>
              <a:rPr lang="en-US" dirty="0"/>
              <a:t>A1C Immanuel Gainer</a:t>
            </a:r>
          </a:p>
          <a:p>
            <a:pPr algn="r"/>
            <a:r>
              <a:rPr lang="en-US" dirty="0"/>
              <a:t>A1C Connor Arretche</a:t>
            </a:r>
          </a:p>
        </p:txBody>
      </p:sp>
    </p:spTree>
    <p:extLst>
      <p:ext uri="{BB962C8B-B14F-4D97-AF65-F5344CB8AC3E}">
        <p14:creationId xmlns:p14="http://schemas.microsoft.com/office/powerpoint/2010/main" val="3283781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B325368-BDE0-6DF5-F1B6-C597E4AA896F}"/>
              </a:ext>
            </a:extLst>
          </p:cNvPr>
          <p:cNvSpPr txBox="1"/>
          <p:nvPr/>
        </p:nvSpPr>
        <p:spPr>
          <a:xfrm>
            <a:off x="3283907" y="1775902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Problem Statement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205CC6-C75D-6A2E-D301-8109E772C054}"/>
              </a:ext>
            </a:extLst>
          </p:cNvPr>
          <p:cNvSpPr txBox="1"/>
          <p:nvPr/>
        </p:nvSpPr>
        <p:spPr>
          <a:xfrm>
            <a:off x="2639860" y="2567836"/>
            <a:ext cx="69122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In-processing members into the unit relies on fragmented record-keeping across spreadsheets, paper documents, and different systems to track Airmen's progress and compliance. This lack of a centralized, authoritative source of information delays the identification of overdue actions and limits visibility into individual and unit readiness, increasing the risk of non-compliance and reduced operational effectiveness.</a:t>
            </a:r>
          </a:p>
        </p:txBody>
      </p:sp>
    </p:spTree>
    <p:extLst>
      <p:ext uri="{BB962C8B-B14F-4D97-AF65-F5344CB8AC3E}">
        <p14:creationId xmlns:p14="http://schemas.microsoft.com/office/powerpoint/2010/main" val="3243389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CE2240-BF5A-162E-1CA8-FE6C19FA55AB}"/>
              </a:ext>
            </a:extLst>
          </p:cNvPr>
          <p:cNvSpPr txBox="1"/>
          <p:nvPr/>
        </p:nvSpPr>
        <p:spPr>
          <a:xfrm>
            <a:off x="3283907" y="1775902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Solution Statement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76186C-3418-AC0A-CC67-9AA25003975D}"/>
              </a:ext>
            </a:extLst>
          </p:cNvPr>
          <p:cNvSpPr txBox="1"/>
          <p:nvPr/>
        </p:nvSpPr>
        <p:spPr>
          <a:xfrm>
            <a:off x="2639860" y="2567836"/>
            <a:ext cx="69122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Our Capstone application consolidates in-processing tracking into a single centralized platform that automatically flags overdue requirements and provides real-time visibility into individual and unit-level compliance status. By replacing manual, fragmented tracking methods with an authoritative digital system, the application reduces administrative burden, accelerates identification of gaps, and strengthens overall force readiness.</a:t>
            </a:r>
          </a:p>
        </p:txBody>
      </p:sp>
    </p:spTree>
    <p:extLst>
      <p:ext uri="{BB962C8B-B14F-4D97-AF65-F5344CB8AC3E}">
        <p14:creationId xmlns:p14="http://schemas.microsoft.com/office/powerpoint/2010/main" val="49564169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1537</TotalTime>
  <Words>153</Words>
  <Application>Microsoft Macintosh PowerPoint</Application>
  <PresentationFormat>Widescreen</PresentationFormat>
  <Paragraphs>15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Copperplate Gothic Bold</vt:lpstr>
      <vt:lpstr>Custom Design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Russell Neal</dc:creator>
  <cp:lastModifiedBy>Russell Neal</cp:lastModifiedBy>
  <cp:revision>8</cp:revision>
  <dcterms:created xsi:type="dcterms:W3CDTF">2026-07-21T13:59:54Z</dcterms:created>
  <dcterms:modified xsi:type="dcterms:W3CDTF">2026-07-22T15:37:05Z</dcterms:modified>
</cp:coreProperties>
</file>